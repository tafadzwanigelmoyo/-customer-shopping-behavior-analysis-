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759750"/>
            <a:ext cx="7416403" cy="134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Shopping Behavior Analysis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350198" y="4433292"/>
            <a:ext cx="741640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1331714"/>
            <a:ext cx="2288977" cy="405884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338" y="1448276"/>
            <a:ext cx="172760" cy="172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418" y="1396484"/>
            <a:ext cx="177081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63798" y="1823918"/>
            <a:ext cx="9449276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Understanding Our Data Foundation</a:t>
            </a:r>
            <a:endParaRPr lang="en-US" sz="4250" dirty="0"/>
          </a:p>
        </p:txBody>
      </p:sp>
      <p:sp>
        <p:nvSpPr>
          <p:cNvPr id="6" name="Text 3"/>
          <p:cNvSpPr/>
          <p:nvPr/>
        </p:nvSpPr>
        <p:spPr>
          <a:xfrm>
            <a:off x="863798" y="2930485"/>
            <a:ext cx="41209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3,900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1574483" y="3912989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Purchases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3798" y="4379833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Transactions analyzed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54704" y="2930485"/>
            <a:ext cx="41209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18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5965388" y="3912989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Columns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254704" y="4379833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 variables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45610" y="2930485"/>
            <a:ext cx="41209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37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10356294" y="3912989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Values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645610" y="4379833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 Review Rating only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3798" y="5049203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Data Categories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63798" y="5710357"/>
            <a:ext cx="12902803" cy="103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demographics: Age, Gender, Location, Subscription Status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Purchase details: Item, Category, Amount, Season, Size, Color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Shopping behavior: Discounts, Promo Codes, Previous Purchases, Frequency, Review Rating, Shipping Type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10139"/>
            <a:ext cx="10053280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Preparation &amp; Cleaning in Python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63798" y="2216825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2553295"/>
            <a:ext cx="4156948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5" name="Text 3"/>
          <p:cNvSpPr/>
          <p:nvPr/>
        </p:nvSpPr>
        <p:spPr>
          <a:xfrm>
            <a:off x="863798" y="2722126"/>
            <a:ext cx="359116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Loading &amp; Exploration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3798" y="3188970"/>
            <a:ext cx="4156948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dataset using pandas, checked structure with df.info() and summary statistics with .describe()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36607" y="2216825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36607" y="2553295"/>
            <a:ext cx="4157067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9" name="Text 7"/>
          <p:cNvSpPr/>
          <p:nvPr/>
        </p:nvSpPr>
        <p:spPr>
          <a:xfrm>
            <a:off x="5236607" y="2722126"/>
            <a:ext cx="2979539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Data Handling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236607" y="3188970"/>
            <a:ext cx="4157067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Imputed 37 missing Review Rating values using median rating of each product category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9534" y="2216825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9534" y="2553295"/>
            <a:ext cx="4157067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9534" y="2722126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 Engineering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9534" y="3188970"/>
            <a:ext cx="4157067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Created age_group column by binning customer ages and purchase_frequency_days from purchase data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3798" y="4948833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3798" y="5285303"/>
            <a:ext cx="6343412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3798" y="5454134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Consistency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63798" y="5920978"/>
            <a:ext cx="6343412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Standardized columns to snake_case, verified discount_applied and promo_code_used redundancy, dropped promo_code_used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23071" y="4948833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23071" y="5285303"/>
            <a:ext cx="6343531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23071" y="5454134"/>
            <a:ext cx="2713672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Database Integration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23071" y="5920978"/>
            <a:ext cx="6343531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Connected to PostgreSQL and loaded cleaned DataFrame for SQL analysis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829866"/>
            <a:ext cx="2230993" cy="405884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338" y="946428"/>
            <a:ext cx="172760" cy="172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418" y="894636"/>
            <a:ext cx="171283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REVENUE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63798" y="1322070"/>
            <a:ext cx="8251388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Gender-Based Revenue Insights</a:t>
            </a:r>
            <a:endParaRPr lang="en-US" sz="4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563654"/>
            <a:ext cx="8202335" cy="434673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01346" y="6940868"/>
            <a:ext cx="215860" cy="215860"/>
          </a:xfrm>
          <a:prstGeom prst="roundRect">
            <a:avLst>
              <a:gd name="adj" fmla="val 8472"/>
            </a:avLst>
          </a:prstGeom>
          <a:solidFill>
            <a:srgbClr val="00296B"/>
          </a:solidFill>
          <a:ln/>
        </p:spPr>
      </p:sp>
      <p:sp>
        <p:nvSpPr>
          <p:cNvPr id="8" name="Text 4"/>
          <p:cNvSpPr/>
          <p:nvPr/>
        </p:nvSpPr>
        <p:spPr>
          <a:xfrm>
            <a:off x="4378166" y="6940868"/>
            <a:ext cx="51054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Male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41106" y="6940868"/>
            <a:ext cx="215860" cy="215860"/>
          </a:xfrm>
          <a:prstGeom prst="roundRect">
            <a:avLst>
              <a:gd name="adj" fmla="val 8472"/>
            </a:avLst>
          </a:prstGeom>
          <a:solidFill>
            <a:srgbClr val="297BFF"/>
          </a:solidFill>
          <a:ln/>
        </p:spPr>
      </p:sp>
      <p:sp>
        <p:nvSpPr>
          <p:cNvPr id="10" name="Text 6"/>
          <p:cNvSpPr/>
          <p:nvPr/>
        </p:nvSpPr>
        <p:spPr>
          <a:xfrm>
            <a:off x="5317927" y="6940868"/>
            <a:ext cx="74735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Female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600724" y="3115151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Finding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9600724" y="3668316"/>
            <a:ext cx="4173379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Male customers generate more than double the revenue of female customers, representing 68% of total revenue versus 32%.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9600724" y="5244703"/>
            <a:ext cx="4173379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significant disparity suggests opportunities for targeted marketing campaigns to increase female customer engagement and spending.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27716"/>
            <a:ext cx="12607171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Top-Performing Products &amp; Customer Segments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63798" y="2488883"/>
            <a:ext cx="307431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Highest-Rated Products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63798" y="3257907"/>
            <a:ext cx="3379232" cy="269915"/>
          </a:xfrm>
          <a:prstGeom prst="roundRect">
            <a:avLst>
              <a:gd name="adj" fmla="val 336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3798" y="3257907"/>
            <a:ext cx="2601992" cy="269915"/>
          </a:xfrm>
          <a:prstGeom prst="roundRect">
            <a:avLst>
              <a:gd name="adj" fmla="val 33607"/>
            </a:avLst>
          </a:prstGeom>
          <a:solidFill>
            <a:srgbClr val="609DFF"/>
          </a:solidFill>
          <a:ln/>
        </p:spPr>
      </p:sp>
      <p:sp>
        <p:nvSpPr>
          <p:cNvPr id="6" name="Text 4"/>
          <p:cNvSpPr/>
          <p:nvPr/>
        </p:nvSpPr>
        <p:spPr>
          <a:xfrm>
            <a:off x="4404955" y="3257907"/>
            <a:ext cx="579834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77%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3798" y="3797618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Gloves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3798" y="4264462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3.86 average rating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54704" y="3257907"/>
            <a:ext cx="3379232" cy="269915"/>
          </a:xfrm>
          <a:prstGeom prst="roundRect">
            <a:avLst>
              <a:gd name="adj" fmla="val 336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4704" y="3257907"/>
            <a:ext cx="2601992" cy="269915"/>
          </a:xfrm>
          <a:prstGeom prst="roundRect">
            <a:avLst>
              <a:gd name="adj" fmla="val 33607"/>
            </a:avLst>
          </a:prstGeom>
          <a:solidFill>
            <a:srgbClr val="609DFF"/>
          </a:solidFill>
          <a:ln/>
        </p:spPr>
      </p:sp>
      <p:sp>
        <p:nvSpPr>
          <p:cNvPr id="11" name="Text 9"/>
          <p:cNvSpPr/>
          <p:nvPr/>
        </p:nvSpPr>
        <p:spPr>
          <a:xfrm>
            <a:off x="8795861" y="3257907"/>
            <a:ext cx="579834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77%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254704" y="3797618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Sandals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254704" y="4264462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3.84 average rating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45610" y="3257907"/>
            <a:ext cx="3390424" cy="269915"/>
          </a:xfrm>
          <a:prstGeom prst="roundRect">
            <a:avLst>
              <a:gd name="adj" fmla="val 336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5610" y="3257907"/>
            <a:ext cx="2576632" cy="269915"/>
          </a:xfrm>
          <a:prstGeom prst="roundRect">
            <a:avLst>
              <a:gd name="adj" fmla="val 33607"/>
            </a:avLst>
          </a:prstGeom>
          <a:solidFill>
            <a:srgbClr val="609DFF"/>
          </a:solidFill>
          <a:ln/>
        </p:spPr>
      </p:sp>
      <p:sp>
        <p:nvSpPr>
          <p:cNvPr id="16" name="Text 14"/>
          <p:cNvSpPr/>
          <p:nvPr/>
        </p:nvSpPr>
        <p:spPr>
          <a:xfrm>
            <a:off x="13197959" y="3257907"/>
            <a:ext cx="56864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76%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45610" y="3797618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Boots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45610" y="4264462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3.82 average rating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3798" y="5149691"/>
            <a:ext cx="3390424" cy="269915"/>
          </a:xfrm>
          <a:prstGeom prst="roundRect">
            <a:avLst>
              <a:gd name="adj" fmla="val 336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3798" y="5149691"/>
            <a:ext cx="2576632" cy="269915"/>
          </a:xfrm>
          <a:prstGeom prst="roundRect">
            <a:avLst>
              <a:gd name="adj" fmla="val 33607"/>
            </a:avLst>
          </a:prstGeom>
          <a:solidFill>
            <a:srgbClr val="609D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16147" y="5149691"/>
            <a:ext cx="56864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76%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63798" y="5689402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63798" y="6156246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3.80 average rating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254704" y="5149691"/>
            <a:ext cx="3390424" cy="269915"/>
          </a:xfrm>
          <a:prstGeom prst="roundRect">
            <a:avLst>
              <a:gd name="adj" fmla="val 3360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4704" y="5149691"/>
            <a:ext cx="2576632" cy="269915"/>
          </a:xfrm>
          <a:prstGeom prst="roundRect">
            <a:avLst>
              <a:gd name="adj" fmla="val 33607"/>
            </a:avLst>
          </a:prstGeom>
          <a:solidFill>
            <a:srgbClr val="609DFF"/>
          </a:solidFill>
          <a:ln/>
        </p:spPr>
      </p:sp>
      <p:sp>
        <p:nvSpPr>
          <p:cNvPr id="26" name="Text 24"/>
          <p:cNvSpPr/>
          <p:nvPr/>
        </p:nvSpPr>
        <p:spPr>
          <a:xfrm>
            <a:off x="8807053" y="5149691"/>
            <a:ext cx="56864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76%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254704" y="5689402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Skirt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254704" y="6156246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3.78 average rating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75968"/>
            <a:ext cx="8390096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Loyalty Segmentation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317552"/>
            <a:ext cx="8202335" cy="45931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445109" y="2074664"/>
            <a:ext cx="4484608" cy="5078968"/>
          </a:xfrm>
          <a:prstGeom prst="roundRect">
            <a:avLst>
              <a:gd name="adj" fmla="val 3467"/>
            </a:avLst>
          </a:prstGeom>
          <a:solidFill>
            <a:srgbClr val="609DFF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660969" y="2869049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Loyalty Dominates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60969" y="3422213"/>
            <a:ext cx="4052888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80% of customers are classified as Loyal based on purchase history, demonstrating strong customer retention.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60969" y="4998601"/>
            <a:ext cx="4052888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 on converting the 18% Returning segment into Loyal customers through targeted engagement programs.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691158"/>
            <a:ext cx="2696289" cy="405884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338" y="807720"/>
            <a:ext cx="172760" cy="172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418" y="755928"/>
            <a:ext cx="217812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SUBSCRIPTION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63798" y="1183362"/>
            <a:ext cx="8400931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Subscription Impact on Revenue</a:t>
            </a:r>
            <a:endParaRPr lang="en-US" sz="4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182058"/>
            <a:ext cx="2390061" cy="239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3798" y="4842034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Subscribers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863798" y="5308878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1,053 customers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3798" y="5783937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Average spend: $59.49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63798" y="6258997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revenue: $62,645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2182058"/>
            <a:ext cx="2390061" cy="23900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4704" y="4842034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Non-Subscribers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5254704" y="5308878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2,847 customers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254704" y="5783937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Average spend: $59.87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254704" y="6258997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revenue: $170,436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5610" y="2182058"/>
            <a:ext cx="2390061" cy="239006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45610" y="4842034"/>
            <a:ext cx="2699623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Repeat Buyers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9645610" y="5308878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3,476 customers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with 5+ purchases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645610" y="5783937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958 are subscribers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645610" y="6258997"/>
            <a:ext cx="412099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2,518 are non-subscribers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63798" y="6847403"/>
            <a:ext cx="12902803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While non-subscribers generate more total revenue due to higher volume, there's significant opportunity to convert repeat buyers into subscribers with exclusive benefits.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75968"/>
            <a:ext cx="9109710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Revenue Distribution by Age Group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317552"/>
            <a:ext cx="8202335" cy="4593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0724" y="2869049"/>
            <a:ext cx="3142536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Balanced Demographics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00724" y="3422213"/>
            <a:ext cx="4173379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Revenue is relatively evenly distributed across age groups, with Young Adults leading at $62,143.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00724" y="4653082"/>
            <a:ext cx="4173379" cy="172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consistency across segments suggests broad market appeal, though targeted campaigns for Young Adults could maximize the highest-performing demographic.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5938" y="620554"/>
            <a:ext cx="7472124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Power BI Dashboard Overview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835938" y="2230279"/>
            <a:ext cx="7472124" cy="98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Our interactive Consumer Behavior Dashboard provides real-time insights with dynamic filtering capabilities across subscription status, gender, category, and shipping type.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35938" y="3444359"/>
            <a:ext cx="2355890" cy="1538645"/>
          </a:xfrm>
          <a:prstGeom prst="roundRect">
            <a:avLst>
              <a:gd name="adj" fmla="val 570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2513" y="3660934"/>
            <a:ext cx="1922740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3,900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52513" y="4108728"/>
            <a:ext cx="1922740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Customers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93996" y="3444359"/>
            <a:ext cx="2355890" cy="1538645"/>
          </a:xfrm>
          <a:prstGeom prst="roundRect">
            <a:avLst>
              <a:gd name="adj" fmla="val 570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0570" y="3660934"/>
            <a:ext cx="1922740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$59.76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3610570" y="4108728"/>
            <a:ext cx="1922740" cy="65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Purchase Amount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52053" y="3444359"/>
            <a:ext cx="2356009" cy="1538645"/>
          </a:xfrm>
          <a:prstGeom prst="roundRect">
            <a:avLst>
              <a:gd name="adj" fmla="val 570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68628" y="3660934"/>
            <a:ext cx="1922859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3.75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168628" y="4108728"/>
            <a:ext cx="1922859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Review Rating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5938" y="5185172"/>
            <a:ext cx="7472124" cy="1209794"/>
          </a:xfrm>
          <a:prstGeom prst="roundRect">
            <a:avLst>
              <a:gd name="adj" fmla="val 725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2513" y="5401747"/>
            <a:ext cx="261258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73%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1052513" y="5849541"/>
            <a:ext cx="7038975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Non-Subscribers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5938" y="6622494"/>
            <a:ext cx="7472124" cy="98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dashboard reveals Clothing dominates with $110K revenue and 1.8K sales, followed by Accessories at $80K revenue. Young Adults lead revenue generation across all age groups.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4168" y="1182410"/>
            <a:ext cx="2350294" cy="253841"/>
          </a:xfrm>
          <a:prstGeom prst="roundRect">
            <a:avLst>
              <a:gd name="adj" fmla="val 19945"/>
            </a:avLst>
          </a:prstGeom>
          <a:solidFill>
            <a:srgbClr val="001D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4536" y="1249085"/>
            <a:ext cx="120491" cy="120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85273" y="1227534"/>
            <a:ext cx="1988820" cy="16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STRATEGIC RECOMMENDATIONS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14168" y="1478280"/>
            <a:ext cx="5880140" cy="47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Business Recommendations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1914168" y="2106811"/>
            <a:ext cx="10802064" cy="904042"/>
          </a:xfrm>
          <a:prstGeom prst="roundRect">
            <a:avLst>
              <a:gd name="adj" fmla="val 7000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29408" y="2122051"/>
            <a:ext cx="602694" cy="873562"/>
          </a:xfrm>
          <a:prstGeom prst="roundRect">
            <a:avLst>
              <a:gd name="adj" fmla="val 7466"/>
            </a:avLst>
          </a:prstGeom>
          <a:solidFill>
            <a:srgbClr val="003180"/>
          </a:solidFill>
          <a:ln/>
        </p:spPr>
      </p:sp>
      <p:sp>
        <p:nvSpPr>
          <p:cNvPr id="8" name="Text 5"/>
          <p:cNvSpPr/>
          <p:nvPr/>
        </p:nvSpPr>
        <p:spPr>
          <a:xfrm>
            <a:off x="2113955" y="2417564"/>
            <a:ext cx="22598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2637115" y="2272665"/>
            <a:ext cx="188345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Boost Subscriptions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637115" y="2571036"/>
            <a:ext cx="9913263" cy="20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Promote exclusive benefits and perks to convert the 73% non-subscriber base, especially targeting repeat buyers with 5+ purchases.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914168" y="3115866"/>
            <a:ext cx="10802064" cy="904042"/>
          </a:xfrm>
          <a:prstGeom prst="roundRect">
            <a:avLst>
              <a:gd name="adj" fmla="val 7000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29408" y="3131106"/>
            <a:ext cx="602694" cy="873562"/>
          </a:xfrm>
          <a:prstGeom prst="roundRect">
            <a:avLst>
              <a:gd name="adj" fmla="val 7466"/>
            </a:avLst>
          </a:prstGeom>
          <a:solidFill>
            <a:srgbClr val="003180"/>
          </a:solidFill>
          <a:ln/>
        </p:spPr>
      </p:sp>
      <p:sp>
        <p:nvSpPr>
          <p:cNvPr id="13" name="Text 10"/>
          <p:cNvSpPr/>
          <p:nvPr/>
        </p:nvSpPr>
        <p:spPr>
          <a:xfrm>
            <a:off x="2113955" y="3426619"/>
            <a:ext cx="22598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2637115" y="3281720"/>
            <a:ext cx="2534603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Loyalty Programs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2637115" y="3580090"/>
            <a:ext cx="9913263" cy="20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Reward the 701 Returning customers to accelerate their transition into the Loyal segment through personalized incentives.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914168" y="4124920"/>
            <a:ext cx="10802064" cy="904042"/>
          </a:xfrm>
          <a:prstGeom prst="roundRect">
            <a:avLst>
              <a:gd name="adj" fmla="val 7000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29408" y="4140160"/>
            <a:ext cx="602694" cy="873562"/>
          </a:xfrm>
          <a:prstGeom prst="roundRect">
            <a:avLst>
              <a:gd name="adj" fmla="val 7466"/>
            </a:avLst>
          </a:prstGeom>
          <a:solidFill>
            <a:srgbClr val="003180"/>
          </a:solidFill>
          <a:ln/>
        </p:spPr>
      </p:sp>
      <p:sp>
        <p:nvSpPr>
          <p:cNvPr id="18" name="Text 15"/>
          <p:cNvSpPr/>
          <p:nvPr/>
        </p:nvSpPr>
        <p:spPr>
          <a:xfrm>
            <a:off x="2113955" y="4435673"/>
            <a:ext cx="22598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2637115" y="4290774"/>
            <a:ext cx="2105263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Review Discount Policy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2637115" y="4589145"/>
            <a:ext cx="9913263" cy="20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Balance promotional sales boosts with margin control, as 839 customers used discounts while spending above average.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914168" y="5133975"/>
            <a:ext cx="10802064" cy="904042"/>
          </a:xfrm>
          <a:prstGeom prst="roundRect">
            <a:avLst>
              <a:gd name="adj" fmla="val 7000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29408" y="5149215"/>
            <a:ext cx="602694" cy="873562"/>
          </a:xfrm>
          <a:prstGeom prst="roundRect">
            <a:avLst>
              <a:gd name="adj" fmla="val 7466"/>
            </a:avLst>
          </a:prstGeom>
          <a:solidFill>
            <a:srgbClr val="003180"/>
          </a:solidFill>
          <a:ln/>
        </p:spPr>
      </p:sp>
      <p:sp>
        <p:nvSpPr>
          <p:cNvPr id="23" name="Text 20"/>
          <p:cNvSpPr/>
          <p:nvPr/>
        </p:nvSpPr>
        <p:spPr>
          <a:xfrm>
            <a:off x="2113955" y="5444728"/>
            <a:ext cx="22598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2637115" y="5299829"/>
            <a:ext cx="188345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 Positioning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2637115" y="5598200"/>
            <a:ext cx="9913263" cy="20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Highlight top-rated products (Gloves, Sandals, Boots) and best-sellers in Clothing category in marketing campaigns.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914168" y="6143030"/>
            <a:ext cx="10802064" cy="904042"/>
          </a:xfrm>
          <a:prstGeom prst="roundRect">
            <a:avLst>
              <a:gd name="adj" fmla="val 7000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29408" y="6158270"/>
            <a:ext cx="602694" cy="873562"/>
          </a:xfrm>
          <a:prstGeom prst="roundRect">
            <a:avLst>
              <a:gd name="adj" fmla="val 7466"/>
            </a:avLst>
          </a:prstGeom>
          <a:solidFill>
            <a:srgbClr val="003180"/>
          </a:solidFill>
          <a:ln/>
        </p:spPr>
      </p:sp>
      <p:sp>
        <p:nvSpPr>
          <p:cNvPr id="28" name="Text 25"/>
          <p:cNvSpPr/>
          <p:nvPr/>
        </p:nvSpPr>
        <p:spPr>
          <a:xfrm>
            <a:off x="2113955" y="6453783"/>
            <a:ext cx="22598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1750" dirty="0"/>
          </a:p>
        </p:txBody>
      </p:sp>
      <p:sp>
        <p:nvSpPr>
          <p:cNvPr id="29" name="Text 26"/>
          <p:cNvSpPr/>
          <p:nvPr/>
        </p:nvSpPr>
        <p:spPr>
          <a:xfrm>
            <a:off x="2637115" y="6308884"/>
            <a:ext cx="188345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Targeted Marketing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2637115" y="6607254"/>
            <a:ext cx="9913263" cy="20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 efforts on Young Adults and express-shipping users who demonstrate higher engagement and spending patterns.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2026-02-03T10:25:16Z</dcterms:created>
  <dcterms:modified xsi:type="dcterms:W3CDTF">2026-02-03T10:25:16Z</dcterms:modified>
</cp:coreProperties>
</file>